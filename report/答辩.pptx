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417320"/>
            <a:ext cx="10698480" cy="1325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基于 Agentic RAG 的
企业智能搜索与自动调研系统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971800"/>
            <a:ext cx="4480560" cy="4114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2000" b="0">
                <a:solidFill>
                  <a:srgbClr val="DCEBFA"/>
                </a:solidFill>
                <a:latin typeface="Microsoft YaHei"/>
              </a:rPr>
              <a:t>工程实践实训答辩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892040"/>
            <a:ext cx="6309360" cy="6858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icrosoft YaHei"/>
              </a:rPr>
              <a:t>随治诚  |  郑州轻工业大学 计算机科学与技术 2027 届
2026 年 09 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Agentic RAG 企业智能搜索与自动调研系统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7373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第 1 页 / 共 14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icrosoft YaHei"/>
              </a:rPr>
              <a:t>项目背景：企业知识管理的三大痛点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474720" cy="182880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435607"/>
            <a:ext cx="31455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语义不足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28800"/>
            <a:ext cx="3145536" cy="120700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关键词检索难以理解同义表达、跨语言和反向否定。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474720" cy="182880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435607"/>
            <a:ext cx="31455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问题复杂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145536" cy="120700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多主题问题需要拆解、检索、审查和综合，单轮 RAG 容易遗漏。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435607"/>
            <a:ext cx="31455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调研耗时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1828800"/>
            <a:ext cx="3145536" cy="120700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信息散落在文档中，人工查找、核对和编写报告成本高。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332720" cy="6400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2400" b="1">
                <a:solidFill>
                  <a:srgbClr val="2A70B4"/>
                </a:solidFill>
                <a:latin typeface="Microsoft YaHei"/>
              </a:rPr>
              <a:t>目标：让企业知识“找得到、答得准、可追溯、能沉淀”。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Agentic RAG 企业智能搜索与自动调研系统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6510528"/>
            <a:ext cx="17373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第 2 页 / 共 14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icrosoft YaHei"/>
              </a:rPr>
              <a:t>Agentic RAG 的价值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Microsoft YaHei"/>
              </a:defRPr>
            </a:pPr>
            <a:r>
              <a:t>Agent 编排完成规划、检索、审查和综合。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Microsoft YaHei"/>
              </a:defRPr>
            </a:pPr>
            <a:r>
              <a:t>混合检索兼顾精确术语与自然表达。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Microsoft YaHei"/>
              </a:defRPr>
            </a:pPr>
            <a:r>
              <a:t>引用、流式、多轮和报告导出连接搜索与调研。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2000" b="1">
                <a:solidFill>
                  <a:srgbClr val="2A70B4"/>
                </a:solidFill>
                <a:latin typeface="Microsoft YaHei"/>
              </a:rPr>
              <a:t>核心结果：完整管线 top-1 74.55%，MRR 0.7889，nDCG@5 0.8026。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Agentic RAG 企业智能搜索与自动调研系统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7373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第 3 页 / 共 14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icrosoft YaHei"/>
              </a:rPr>
              <a:t>需求分析：功能、质量与约束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5303520" cy="160020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344168"/>
            <a:ext cx="49743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功能需求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737360"/>
            <a:ext cx="4974336" cy="97840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文档解析｜混合检索｜问答引用｜多轮对话｜调研报告｜运营看板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303520" cy="160020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6792" y="1344168"/>
            <a:ext cx="49743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非功能需求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792" y="1737360"/>
            <a:ext cx="4974336" cy="97840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可解释、可评测、可部署、可扩展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10744200" cy="160020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355848"/>
            <a:ext cx="1041501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工程约束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749039"/>
            <a:ext cx="10415016" cy="97840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中文语料；Python 3.13；DeepSeek-V3；单机 CPU；PostgreSQL+pgvector；Redis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Agentic RAG 企业智能搜索与自动调研系统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510528"/>
            <a:ext cx="17373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第 4 页 / 共 14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icrosoft YaHei"/>
              </a:rPr>
              <a:t>总体架构：四层协同</a:t>
            </a:r>
          </a:p>
        </p:txBody>
      </p:sp>
      <p:pic>
        <p:nvPicPr>
          <p:cNvPr id="3" name="Picture 2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6400800" cy="417443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06640" y="1143000"/>
            <a:ext cx="3931920" cy="100584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71231" y="1252728"/>
            <a:ext cx="36027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交互层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71231" y="1645920"/>
            <a:ext cx="3602736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搜索、聊天、报告、看板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423160"/>
            <a:ext cx="3931920" cy="100584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71231" y="2532888"/>
            <a:ext cx="36027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服务层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2926080"/>
            <a:ext cx="3602736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FastAPI、SSE、鉴权、反馈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703320"/>
            <a:ext cx="3931920" cy="100584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3813048"/>
            <a:ext cx="36027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智能层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1" y="4206240"/>
            <a:ext cx="3602736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LangGraph、检索、生成、评测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983480"/>
            <a:ext cx="3931920" cy="100584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5093208"/>
            <a:ext cx="36027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数据层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5486400"/>
            <a:ext cx="3602736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PostgreSQL+pgvector、Redis、文件存储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Agentic RAG 企业智能搜索与自动调研系统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510528"/>
            <a:ext cx="17373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第 5 页 / 共 14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icrosoft YaHei"/>
              </a:rPr>
              <a:t>总体架构：四个业务模块</a:t>
            </a:r>
          </a:p>
        </p:txBody>
      </p:sp>
      <p:pic>
        <p:nvPicPr>
          <p:cNvPr id="3" name="Picture 2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5669280" cy="34508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29400" y="12344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Microsoft YaHei"/>
              </a:defRPr>
            </a:pPr>
            <a:r>
              <a:t>文档中心：解析 PDF 等文件，切分、嵌入并建立索引。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Microsoft YaHei"/>
              </a:defRPr>
            </a:pPr>
            <a:r>
              <a:t>智能搜索：BM25 + pgvector + RRF + Reranker，返回引用。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Microsoft YaHei"/>
              </a:defRPr>
            </a:pPr>
            <a:r>
              <a:t>自动调研：多步检索后生成 5 章节报告并导出 PDF。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Microsoft YaHei"/>
              </a:defRPr>
            </a:pPr>
            <a:r>
              <a:t>运营看板：查看命中率、用户反馈和 Top 文档。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Agentic RAG 企业智能搜索与自动调研系统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7373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第 6 页 / 共 14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icrosoft YaHei"/>
              </a:rPr>
              <a:t>核心算法：LangGraph Agentic RAG 工作流</a:t>
            </a:r>
          </a:p>
        </p:txBody>
      </p:sp>
      <p:pic>
        <p:nvPicPr>
          <p:cNvPr id="3" name="Picture 2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7498079" cy="505305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366760" y="1143000"/>
            <a:ext cx="3017520" cy="96012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1352" y="1252728"/>
            <a:ext cx="26883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1645920"/>
            <a:ext cx="2688336" cy="33832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拆解问题并规划检索路径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2423160"/>
            <a:ext cx="3017520" cy="96012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1352" y="2532888"/>
            <a:ext cx="26883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1352" y="2926080"/>
            <a:ext cx="2688336" cy="33832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多路召回并融合候选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3703320"/>
            <a:ext cx="3017520" cy="96012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3813048"/>
            <a:ext cx="26883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Critic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4206240"/>
            <a:ext cx="2688336" cy="33832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检查覆盖度与证据质量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4983480"/>
            <a:ext cx="3017520" cy="96012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2" y="5093208"/>
            <a:ext cx="26883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Synthesizer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5486400"/>
            <a:ext cx="2688336" cy="33832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基于证据生成可溯源答案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Agentic RAG 企业智能搜索与自动调研系统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510528"/>
            <a:ext cx="17373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第 7 页 / 共 14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icrosoft YaHei"/>
              </a:rPr>
              <a:t>核心算法：混合检索与查询增强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182880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298448"/>
            <a:ext cx="49743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混合检索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4974336" cy="120700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BM25 + pgvector + RRF + BGE-Reranker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188720"/>
            <a:ext cx="5303520" cy="182880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6792" y="1298448"/>
            <a:ext cx="49743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查询改写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792" y="1691640"/>
            <a:ext cx="4974336" cy="120700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LLM 扩展多个语义变体，提升召回。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5303520" cy="182880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538728"/>
            <a:ext cx="49743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HyDE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931920"/>
            <a:ext cx="4974336" cy="120700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生成假设答案，用其向量辅助检索。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429000"/>
            <a:ext cx="5303520" cy="182880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3538728"/>
            <a:ext cx="497433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证据闭环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3931920"/>
            <a:ext cx="4974336" cy="120700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Critic 审查证据，不足时继续检索。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Agentic RAG 企业智能搜索与自动调研系统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6510528"/>
            <a:ext cx="17373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第 8 页 / 共 14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icrosoft YaHei"/>
              </a:rPr>
              <a:t>实验结果：四组检索消融</a:t>
            </a:r>
          </a:p>
        </p:txBody>
      </p:sp>
      <p:pic>
        <p:nvPicPr>
          <p:cNvPr id="3" name="Picture 2" descr="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6583680" cy="40074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43800" y="141732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Microsoft YaHei"/>
              </a:defRPr>
            </a:pPr>
            <a:r>
              <a:t>BM25-only：70.91%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Microsoft YaHei"/>
              </a:defRPr>
            </a:pPr>
            <a:r>
              <a:t>向量-only：72.73%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Microsoft YaHei"/>
              </a:defRPr>
            </a:pPr>
            <a:r>
              <a:t>BM25+向量：69.09%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Microsoft YaHei"/>
              </a:defRPr>
            </a:pPr>
            <a:r>
              <a:t>完整 + Reranker：74.55%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Microsoft YaHei"/>
              </a:defRPr>
            </a:pPr>
            <a:r>
              <a:t>完整管线 MRR 0.7889，nDCG@5 0.8026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Agentic RAG 企业智能搜索与自动调研系统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7373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第 9 页 / 共 14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icrosoft YaHei"/>
              </a:rPr>
              <a:t>实验结果：查询增强带来明显收益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17320"/>
            <a:ext cx="4480560" cy="1828800"/>
          </a:xfrm>
          <a:prstGeom prst="roundRect">
            <a:avLst/>
          </a:prstGeom>
          <a:solidFill>
            <a:srgbClr val="F8EFE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1527048"/>
            <a:ext cx="415137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复杂查询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920240"/>
            <a:ext cx="4151376" cy="120700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top-1：62.12%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17320"/>
            <a:ext cx="4480560" cy="1828800"/>
          </a:xfrm>
          <a:prstGeom prst="roundRect">
            <a:avLst/>
          </a:prstGeom>
          <a:solidFill>
            <a:srgbClr val="E8F6ED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527048"/>
            <a:ext cx="415137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查询改写后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1152" y="1920240"/>
            <a:ext cx="4151376" cy="120700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top-1：71.21%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840480"/>
            <a:ext cx="3383280" cy="7315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3000" b="1">
                <a:solidFill>
                  <a:srgbClr val="2A70B4"/>
                </a:solidFill>
                <a:latin typeface="Microsoft YaHei"/>
              </a:rPr>
              <a:t>+9.09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92040"/>
            <a:ext cx="9966960" cy="6400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900" b="0">
                <a:solidFill>
                  <a:srgbClr val="232D37"/>
                </a:solidFill>
                <a:latin typeface="Microsoft YaHei"/>
              </a:rPr>
              <a:t>LLM 改写与 HyDE 扩展查询表达，改善多主题、跨语言与反向否定问题的召回。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Agentic RAG 企业智能搜索与自动调研系统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510528"/>
            <a:ext cx="17373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第 10 页 / 共 14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icrosoft YaHei"/>
              </a:rPr>
              <a:t>实验结果：生成质量与性能基准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5212080" cy="329184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252728"/>
            <a:ext cx="488289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RAGAS（44 样本）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45920"/>
            <a:ext cx="4882896" cy="2670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faith 0.6924｜relevancy 0.6156
precision 0.7853｜recall 0.8409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43000"/>
            <a:ext cx="5212080" cy="2286000"/>
          </a:xfrm>
          <a:prstGeom prst="roundRect">
            <a:avLst/>
          </a:prstGeom>
          <a:solidFill>
            <a:srgbClr val="F0F6FC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252728"/>
            <a:ext cx="4882896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Microsoft YaHei"/>
              </a:rPr>
              <a:t>端到端延迟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1645920"/>
            <a:ext cx="4882896" cy="1664207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Microsoft YaHei"/>
              </a:rPr>
              <a:t>OFF P50 51.6ms / P95 54.26ms
ON P50 1362.92ms / P95 1680.06ms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Agentic RAG 企业智能搜索与自动调研系统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510528"/>
            <a:ext cx="17373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第 11 页 / 共 14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icrosoft YaHei"/>
              </a:rPr>
              <a:t>系统演示：从搜索到调研报告</a:t>
            </a:r>
          </a:p>
        </p:txBody>
      </p:sp>
      <p:pic>
        <p:nvPicPr>
          <p:cNvPr id="3" name="Picture 2" descr="demo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5212080" cy="3257550"/>
          </a:xfrm>
          <a:prstGeom prst="rect">
            <a:avLst/>
          </a:prstGeom>
        </p:spPr>
      </p:pic>
      <p:pic>
        <p:nvPicPr>
          <p:cNvPr id="4" name="Picture 3" descr="demo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212080" cy="3257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532120"/>
            <a:ext cx="466344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700" b="1">
                <a:solidFill>
                  <a:srgbClr val="1F3A5F"/>
                </a:solidFill>
                <a:latin typeface="Microsoft YaHei"/>
              </a:rPr>
              <a:t>简单问答：引用可追溯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532120"/>
            <a:ext cx="466344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700" b="1">
                <a:solidFill>
                  <a:srgbClr val="1F3A5F"/>
                </a:solidFill>
                <a:latin typeface="Microsoft YaHei"/>
              </a:rPr>
              <a:t>自动调研：5 章节报告 +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Agentic RAG 企业智能搜索与自动调研系统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10528"/>
            <a:ext cx="17373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第 12 页 / 共 14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icrosoft YaHei"/>
              </a:rP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Microsoft YaHei"/>
              </a:defRPr>
            </a:pPr>
            <a:r>
              <a:t>完成文档入库、混合检索、Agent 编排到报告导出的闭环。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Microsoft YaHei"/>
              </a:defRPr>
            </a:pPr>
            <a:r>
              <a:t>完整管线 top-1 74.55%，查询改写提升复杂查询 9.09pt。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Microsoft YaHei"/>
              </a:defRPr>
            </a:pPr>
            <a:r>
              <a:t>限制：CPU Reranker P50 1362.92ms，真实语料与 RAGAS 样本有限。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  <a:latin typeface="Microsoft YaHei"/>
              </a:defRPr>
            </a:pPr>
            <a:r>
              <a:t>展望：BM25 持久化、Reranker 服务化、扩充真实语料与评测集。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Agentic RAG 企业智能搜索与自动调研系统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7373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第 13 页 / 共 14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05050"/>
                </a:solidFill>
                <a:latin typeface="Microsoft YaHei"/>
              </a:rPr>
              <a:t>工程规模：402 chunks · 110 评测 queries · pytest 92 passed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503920" cy="7772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880360"/>
            <a:ext cx="8503920" cy="5943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2400" b="0">
                <a:solidFill>
                  <a:srgbClr val="DCEBFA"/>
                </a:solidFill>
                <a:latin typeface="Microsoft YaHei"/>
              </a:rPr>
              <a:t>欢迎提问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503920" cy="3657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Microsoft YaHei"/>
              </a:rPr>
              <a:t>随治诚｜郑州轻工业大学计算机科学与技术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Agentic RAG 企业智能搜索与自动调研系统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7373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第 14 页 / 共 14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